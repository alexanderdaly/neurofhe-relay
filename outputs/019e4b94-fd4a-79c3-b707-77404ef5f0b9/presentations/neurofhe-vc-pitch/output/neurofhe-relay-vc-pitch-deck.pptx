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031929467422c" /><Relationship Type="http://schemas.openxmlformats.org/officeDocument/2006/relationships/extended-properties" Target="/docProps/app.xml" Id="R85012097d58c4a98" /><Relationship Type="http://schemas.openxmlformats.org/officeDocument/2006/relationships/officeDocument" Target="/ppt/presentation.xml" Id="Rb324dad2a1a84d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5c8e7c39794df1"/>
  </p:sldMasterIdLst>
  <p:notesMasterIdLst>
    <p:notesMasterId xmlns:r="http://schemas.openxmlformats.org/officeDocument/2006/relationships" r:id="R1feade3b814d4647"/>
  </p:notesMasterIdLst>
  <p:sldIdLst>
    <p:sldId xmlns:r="http://schemas.openxmlformats.org/officeDocument/2006/relationships" id="256" r:id="R7ecdcc77d9ea4fc7"/>
    <p:sldId xmlns:r="http://schemas.openxmlformats.org/officeDocument/2006/relationships" id="257" r:id="Re69f0f0242c4434c"/>
    <p:sldId xmlns:r="http://schemas.openxmlformats.org/officeDocument/2006/relationships" id="258" r:id="R3512ce9a767545bd"/>
    <p:sldId xmlns:r="http://schemas.openxmlformats.org/officeDocument/2006/relationships" id="259" r:id="Rbf0fc29419a343c7"/>
    <p:sldId xmlns:r="http://schemas.openxmlformats.org/officeDocument/2006/relationships" id="260" r:id="Ra8977b7dd8db4eda"/>
    <p:sldId xmlns:r="http://schemas.openxmlformats.org/officeDocument/2006/relationships" id="261" r:id="R1be4b8a85245480a"/>
    <p:sldId xmlns:r="http://schemas.openxmlformats.org/officeDocument/2006/relationships" id="262" r:id="Ra46f4365bc0140a5"/>
    <p:sldId xmlns:r="http://schemas.openxmlformats.org/officeDocument/2006/relationships" id="263" r:id="R7faa42aafb8e43ad"/>
    <p:sldId xmlns:r="http://schemas.openxmlformats.org/officeDocument/2006/relationships" id="264" r:id="R616354bbe4d64991"/>
    <p:sldId xmlns:r="http://schemas.openxmlformats.org/officeDocument/2006/relationships" id="265" r:id="Raaca1a8d0c764ee6"/>
    <p:sldId xmlns:r="http://schemas.openxmlformats.org/officeDocument/2006/relationships" id="266" r:id="R5baf5348d6b64e5f"/>
    <p:sldId xmlns:r="http://schemas.openxmlformats.org/officeDocument/2006/relationships" id="267" r:id="R10376cba172445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c8e7c39794df1" /><Relationship Type="http://schemas.openxmlformats.org/officeDocument/2006/relationships/theme" Target="/ppt/theme/theme1.xml" Id="R5ff3c415db12456d" /><Relationship Type="http://schemas.openxmlformats.org/officeDocument/2006/relationships/notesMaster" Target="/ppt/notesMasters/notesMaster1.xml" Id="R1feade3b814d4647" /><Relationship Type="http://schemas.openxmlformats.org/officeDocument/2006/relationships/presProps" Target="/ppt/presProps.xml" Id="Rdb85a9bb4d79494e" /><Relationship Type="http://schemas.openxmlformats.org/officeDocument/2006/relationships/viewProps" Target="/ppt/viewProps.xml" Id="Rdde60da9587747b7" /><Relationship Type="http://schemas.openxmlformats.org/officeDocument/2006/relationships/tableStyles" Target="/ppt/tableStyles.xml" Id="R0aeb00df0f7b48cf" /><Relationship Type="http://schemas.openxmlformats.org/officeDocument/2006/relationships/slide" Target="/ppt/slides/slide1.xml" Id="R7ecdcc77d9ea4fc7" /><Relationship Type="http://schemas.openxmlformats.org/officeDocument/2006/relationships/slide" Target="/ppt/slides/slide2.xml" Id="Re69f0f0242c4434c" /><Relationship Type="http://schemas.openxmlformats.org/officeDocument/2006/relationships/slide" Target="/ppt/slides/slide3.xml" Id="R3512ce9a767545bd" /><Relationship Type="http://schemas.openxmlformats.org/officeDocument/2006/relationships/slide" Target="/ppt/slides/slide4.xml" Id="Rbf0fc29419a343c7" /><Relationship Type="http://schemas.openxmlformats.org/officeDocument/2006/relationships/slide" Target="/ppt/slides/slide5.xml" Id="Ra8977b7dd8db4eda" /><Relationship Type="http://schemas.openxmlformats.org/officeDocument/2006/relationships/slide" Target="/ppt/slides/slide6.xml" Id="R1be4b8a85245480a" /><Relationship Type="http://schemas.openxmlformats.org/officeDocument/2006/relationships/slide" Target="/ppt/slides/slide7.xml" Id="Ra46f4365bc0140a5" /><Relationship Type="http://schemas.openxmlformats.org/officeDocument/2006/relationships/slide" Target="/ppt/slides/slide8.xml" Id="R7faa42aafb8e43ad" /><Relationship Type="http://schemas.openxmlformats.org/officeDocument/2006/relationships/slide" Target="/ppt/slides/slide9.xml" Id="R616354bbe4d64991" /><Relationship Type="http://schemas.openxmlformats.org/officeDocument/2006/relationships/slide" Target="/ppt/slides/slide10.xml" Id="Raaca1a8d0c764ee6" /><Relationship Type="http://schemas.openxmlformats.org/officeDocument/2006/relationships/slide" Target="/ppt/slides/slide11.xml" Id="R5baf5348d6b64e5f" /><Relationship Type="http://schemas.openxmlformats.org/officeDocument/2006/relationships/slide" Target="/ppt/slides/slide12.xml" Id="R10376cba172445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400b95f2b548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1b4376dc39491d" /><Relationship Type="http://schemas.openxmlformats.org/officeDocument/2006/relationships/notesMaster" Target="/ppt/notesMasters/notesMaster1.xml" Id="R74ef67e86faf40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572b09ab8478f" /><Relationship Type="http://schemas.openxmlformats.org/officeDocument/2006/relationships/notesMaster" Target="/ppt/notesMasters/notesMaster1.xml" Id="Rb678938cd43f47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bd94e270eb4c1b" /><Relationship Type="http://schemas.openxmlformats.org/officeDocument/2006/relationships/notesMaster" Target="/ppt/notesMasters/notesMaster1.xml" Id="R4e117823d66545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dbe714d8ac4b0e" /><Relationship Type="http://schemas.openxmlformats.org/officeDocument/2006/relationships/notesMaster" Target="/ppt/notesMasters/notesMaster1.xml" Id="Rd7422bd3b65441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5171843bad4e22" /><Relationship Type="http://schemas.openxmlformats.org/officeDocument/2006/relationships/notesMaster" Target="/ppt/notesMasters/notesMaster1.xml" Id="R76dc6bd654cf45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c767e66b5c4ea7" /><Relationship Type="http://schemas.openxmlformats.org/officeDocument/2006/relationships/notesMaster" Target="/ppt/notesMasters/notesMaster1.xml" Id="R8ca0b959a37e49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8f6e2e5839402e" /><Relationship Type="http://schemas.openxmlformats.org/officeDocument/2006/relationships/notesMaster" Target="/ppt/notesMasters/notesMaster1.xml" Id="Rcdbf71f04ac447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f143bbe07346fb" /><Relationship Type="http://schemas.openxmlformats.org/officeDocument/2006/relationships/notesMaster" Target="/ppt/notesMasters/notesMaster1.xml" Id="R4dd5da325af0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a82af0401c4689" /><Relationship Type="http://schemas.openxmlformats.org/officeDocument/2006/relationships/notesMaster" Target="/ppt/notesMasters/notesMaster1.xml" Id="R1aed248de32d4b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72109a12d4348" /><Relationship Type="http://schemas.openxmlformats.org/officeDocument/2006/relationships/notesMaster" Target="/ppt/notesMasters/notesMaster1.xml" Id="Re14c1fea9b964d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60d90039354b02" /><Relationship Type="http://schemas.openxmlformats.org/officeDocument/2006/relationships/notesMaster" Target="/ppt/notesMasters/notesMaster1.xml" Id="Red074c78919541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0c3a49bb9641c0" /><Relationship Type="http://schemas.openxmlformats.org/officeDocument/2006/relationships/notesMaster" Target="/ppt/notesMasters/notesMaster1.xml" Id="R17d22f3f78c242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847e4028849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92d382de484af6" /><Relationship Type="http://schemas.openxmlformats.org/officeDocument/2006/relationships/slideLayout" Target="/ppt/slideLayouts/slideLayout2.xml" Id="Rb12fd7c364f846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2fd7c364f846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b17200f5104746" /><Relationship Type="http://schemas.openxmlformats.org/officeDocument/2006/relationships/notesSlide" Target="/ppt/notesSlides/notesSlide1.xml" Id="R780715f56b6b4f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446e0bb0c5476c" /><Relationship Type="http://schemas.openxmlformats.org/officeDocument/2006/relationships/notesSlide" Target="/ppt/notesSlides/notesSlide2.xml" Id="R139ce12955e84e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81e62557d49d9" /><Relationship Type="http://schemas.openxmlformats.org/officeDocument/2006/relationships/notesSlide" Target="/ppt/notesSlides/notesSlide3.xml" Id="Ra61a62f486a24b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51aa2b26b49c8" /><Relationship Type="http://schemas.openxmlformats.org/officeDocument/2006/relationships/notesSlide" Target="/ppt/notesSlides/notesSlide4.xml" Id="Re958f08dbbf3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7e1486b284b58" /><Relationship Type="http://schemas.openxmlformats.org/officeDocument/2006/relationships/notesSlide" Target="/ppt/notesSlides/notesSlide5.xml" Id="Rd8ffbc13a3214c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b0a41c1dcf4fbb" /><Relationship Type="http://schemas.openxmlformats.org/officeDocument/2006/relationships/notesSlide" Target="/ppt/notesSlides/notesSlide6.xml" Id="Rd240b06d963c44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790023027483d" /><Relationship Type="http://schemas.openxmlformats.org/officeDocument/2006/relationships/notesSlide" Target="/ppt/notesSlides/notesSlide7.xml" Id="R51c45e8b4b4b42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1a9300b9e4328" /><Relationship Type="http://schemas.openxmlformats.org/officeDocument/2006/relationships/notesSlide" Target="/ppt/notesSlides/notesSlide8.xml" Id="R1a9f532f0e9a45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62c7e475bf4344" /><Relationship Type="http://schemas.openxmlformats.org/officeDocument/2006/relationships/notesSlide" Target="/ppt/notesSlides/notesSlide9.xml" Id="R763b4849e1334e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9c2e46ebd84106" /><Relationship Type="http://schemas.openxmlformats.org/officeDocument/2006/relationships/notesSlide" Target="/ppt/notesSlides/notesSlide10.xml" Id="R2d082dbb54e044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322248b54418a" /><Relationship Type="http://schemas.openxmlformats.org/officeDocument/2006/relationships/notesSlide" Target="/ppt/notesSlides/notesSlide11.xml" Id="R28a99f1a4a8642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0ec8c8c4804734" /><Relationship Type="http://schemas.openxmlformats.org/officeDocument/2006/relationships/notesSlide" Target="/ppt/notesSlides/notesSlide12.xml" Id="Rae3a9dc926bd46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81D569-DEA6-4143-8198-620383A5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20F1B-530D-4C2F-B3CD-A3B1B413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633B7-5EE1-4D79-955E-CCFF4CE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BF70A-FFE0-4CD0-8498-A8B85EED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3DB55-351F-46E2-92DC-B57B35E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01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108C98-A4CA-4A7B-90B6-C6A47DB0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3B5798-64E4-4A24-93F3-F1A0854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PRE-SEED / SEED VC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A52F4-D066-4580-B4DB-94277265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00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90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NeuroFHE Relay turns physical sensor streams into encrypted event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58378-F20A-444C-B7AA-0B6A2AFD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A commercial company can keep the core protocol CC0 while monetizing proprietary compilers, hardware adapters, and specialized encrypted models for edge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16820-D655-48AB-ACCA-7308DE53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04539-6F10-415D-A49A-F5CA8E8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D7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5AD7FF"/>
                </a:solidFill>
                <a:latin typeface="Avenir Next Condensed"/>
                <a:ea typeface="Avenir Next Condensed"/>
                <a:cs typeface="Avenir Next Condensed"/>
              </a:rPr>
              <a:t>18 -&gt; 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EABAC-B4E2-47EC-B34B-8C9E2E2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active vs dense slots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C1DFC-716C-49A4-A20D-766469F2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current synthetic event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7FD77-71F4-4A34-9932-30986F56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386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7F377-7675-40D2-BD22-5A57A3E7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624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7F2A1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77F2A1"/>
                </a:solidFill>
                <a:latin typeface="Avenir Next Condensed"/>
                <a:ea typeface="Avenir Next Condensed"/>
                <a:cs typeface="Avenir Next Condensed"/>
              </a:rPr>
              <a:t>36 vs 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7B40A-668A-450A-B582-C0DBA0E5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95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sparse vs dense multiplies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182A1-EF48-4D07-84C1-DBF5F455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67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same score contract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200AF-CB96-4E23-92A6-9A93A8A3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2400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3C147-7EB2-46FA-AC51-EA774BC8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624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45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FFB454"/>
                </a:solidFill>
                <a:latin typeface="Avenir Next Condensed"/>
                <a:ea typeface="Avenir Next Condensed"/>
                <a:cs typeface="Avenir Next Condensed"/>
              </a:rPr>
              <a:t>35/35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706F2-D8F8-412D-AFD8-44F0591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tests passing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00C3A-7EE0-4136-953E-0E19AA5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local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1AA6B-9644-4C3D-B354-EF3712F3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42950"/>
            <a:ext cx="22669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81D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4F802-704C-4561-AA46-36B8A96A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90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WHY THIS IS VENTURE-SHAPED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FB693-91D1-473F-ACC1-3B6A2F8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33500"/>
            <a:ext cx="1905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Deep tech wedge</a:t>
            </a:r>
          </a:p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PETs and encrypted compute</a:t>
            </a:r>
          </a:p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Sovereign/edge infrastructure</a:t>
            </a:r>
          </a:p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Compiler and adapter moat</a:t>
            </a:r>
          </a:p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Clear open-core split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061B2-8567-4AB0-8450-E67F77FE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57600"/>
            <a:ext cx="1885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Not generic AI. Not a medical-device claim. Not production cryptography yet.</a:t>
            </a:r>
          </a:p>
        </p:txBody>
      </p:sp>
    </p:spTree>
    <p:extLst>
      <p:ext uri="{BB962C8B-B14F-4D97-AF65-F5344CB8AC3E}">
        <p14:creationId xmlns:p14="http://schemas.microsoft.com/office/powerpoint/2010/main" val="15793888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AFE04F-5870-4C9C-AAD2-3587A3E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D21E5-2168-478D-9F89-35255262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A0039-8B0D-48AE-8936-06AA6B63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B4A7C-1723-45A8-8116-901D5F48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5ABA7-C402-4B7D-A678-C5AE74A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02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C29CDE-32EA-493A-A35D-E3126423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0E34BB-A5F9-4FF5-AFCE-DFC732AB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08B9E-DC3D-41E6-B351-5B637E29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The next AI data moat is continuous, physical, and too sensitive to centralize.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2D3D8-F7EC-47E4-B934-EB8BD76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Robotics, wearables, edge cameras, buildings, and industrial systems all produce high-frequency streams that reveal behavior, identity, location, operations, and sometimes physiology.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EF568-F1CA-438B-B8AA-2A0A06E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DBDA7-86D6-419B-9F9C-904C53B6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Robotics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698B8-C0DC-4CB5-84F0-C7F30DA4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motion + environment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E0310-894F-4DCA-AF59-15A685CE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61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C5F79-69A7-41DA-844C-110B6A72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28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Wearables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3DC03-606D-42D2-8D6C-6A95A36F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3377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biosignal +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94F5E-D631-4654-9631-7AAFC4D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05125"/>
            <a:ext cx="1619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F74B8-343D-4155-97DC-CEFCE55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Edge cameras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E1596-2E98-4139-96C0-D8EEE6C0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29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people + place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7963-7F26-4338-9887-CCFB8A19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1619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FC9A2-C856-4347-8102-548D2F2D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194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Buildings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0D759-4459-4E68-A2AA-F3F7028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2422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occupancy + routine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402B4-BDAA-45D6-902C-9F2BCB54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95575"/>
            <a:ext cx="1619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D320D-AE14-457F-A2C0-AA387BB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Industrial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62CDC-7512-4A8C-A15F-35E5D10B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process + anomaly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29057-0550-432F-9059-AC9D4BDB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LOWER PRIVACY BURDEN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65938-2E9E-417B-8714-20B17242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HIGHER PRIVACY BURDEN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A21DB-B202-49CF-BD4C-863C7368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33975"/>
            <a:ext cx="598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724907-D286-476C-AC49-4A852330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86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FFB45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934F59-1A55-4E38-9322-E7A4C29A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904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Current tradeoff: keep everything local and lose shared intelligence, or send too much raw context to remote AI.</a:t>
            </a:r>
          </a:p>
        </p:txBody>
      </p:sp>
    </p:spTree>
    <p:extLst>
      <p:ext uri="{BB962C8B-B14F-4D97-AF65-F5344CB8AC3E}">
        <p14:creationId xmlns:p14="http://schemas.microsoft.com/office/powerpoint/2010/main" val="19230379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78EEB-9DFF-43FE-9D3C-C8DC0964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B160-5262-4D67-A91A-09110D7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4B82E-AEAF-4BE8-B82B-3169152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B7C00-D47F-4D97-B49E-0D11A0E0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3B1EC-8677-4FB5-A93F-5AB1BF8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03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A7AD00-8B55-4D3A-BB98-E9C96F2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B5A21F-C537-47D1-8B36-CB8F355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TECHNICAL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A4BF7-9D94-419F-9A5D-9584247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Dense FHE is bottlenecked by workload shape, not just cryptographic maturity.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F7DCF-3334-4FFC-9527-412D3E96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12EE4-2F29-4BF2-B6EC-107F8C6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505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8505A"/>
                </a:solidFill>
                <a:latin typeface="Avenir Next"/>
                <a:ea typeface="Avenir Next"/>
                <a:cs typeface="Avenir Next"/>
              </a:rPr>
              <a:t>continuous 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60C5-A76F-41C6-B6F2-CFF39FAD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high-dimensional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DAEF4-02CA-4D9B-BAB3-B8ABC547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575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5A168-E18B-4A70-9882-9EE0F3D5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9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36DD2-B635-403E-8E8F-D1DB6366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13589-0355-47E3-B709-D47FFC5F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505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8505A"/>
                </a:solidFill>
                <a:latin typeface="Avenir Next"/>
                <a:ea typeface="Avenir Next"/>
                <a:cs typeface="Avenir Next"/>
              </a:rPr>
              <a:t>dense tensor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F2BE8-AEC3-450B-B97D-9B5229E0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many zero / irrelevant slots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2B837-DC2B-4BE6-8562-2BD44606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575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E3A78-DB67-4811-89E7-4CEDB6D7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9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CE1B1-02B6-441D-8254-9CCD611A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D831B-09EB-4E82-A25A-99E67E56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505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8505A"/>
                </a:solidFill>
                <a:latin typeface="Avenir Next"/>
                <a:ea typeface="Avenir Next"/>
                <a:cs typeface="Avenir Next"/>
              </a:rPr>
              <a:t>encrypted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374A8-FAB0-4BAD-80EC-720A6233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rotations + multiplies + depth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286D5-1FE3-4BEC-84CD-80DEB357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4BB9E8-9E4F-4D08-8665-900EF1E7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FFB45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2AA71-B414-421D-9776-713180BC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2076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473AB-FA6F-4DA2-9D15-BCF009D6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latency wall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90F21-D81E-4149-AFD4-A84D0C7A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cost rises before utility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6263A-591F-4E73-A2EE-CA404BC6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9791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22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57E37B-3822-4C7E-A91C-B69F839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Investor question: can the system make encrypted inference smaller before it asks FHE to do heroic work?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08516-6BA1-478D-B7A6-F2CB2DC2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The answer has to be measured in operation counts, ciphertext bytes, latency, model accuracy, and explicit metadata leakage.</a:t>
            </a:r>
          </a:p>
        </p:txBody>
      </p:sp>
    </p:spTree>
    <p:extLst>
      <p:ext uri="{BB962C8B-B14F-4D97-AF65-F5344CB8AC3E}">
        <p14:creationId xmlns:p14="http://schemas.microsoft.com/office/powerpoint/2010/main" val="10073574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C9A0F-1814-4EF2-A199-0684A66C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0651A-D5EC-4877-9AAF-2D309EEA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A5541-262C-4E44-A598-C13B96D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7FEBC-5470-41A9-89BF-927EE03D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872D5-0F7A-460C-A6FD-FCAD344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04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115139-384F-49FB-B442-510D4A99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57D42B-23A3-4BC9-997D-53C314F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52904-339E-477F-AA03-71B0D2A9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Compile events first; encrypt a smaller inference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B0341-20D8-411E-8521-EB385DFD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5D268-6896-494B-BDE6-97CCAFA6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NAIVE DENSE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71A92-E9D7-4189-AFD5-9C4E1D10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AAE4-812A-4735-895C-96DDFA4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raw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DD763-E4D3-43BE-948A-8FB12E29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continuous frames or 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C074A-E032-4878-BEDD-51F7E38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1769C-8A1A-45AE-A3A7-DC863B94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146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dense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7B0A6-D995-4242-89C5-5881915C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432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large encrypted tensor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4C8F2-6B9A-4091-B2D4-FD5343E2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337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CA6B0-C2A4-498C-B696-C7FDA30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FFB4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D7D17-9FDD-4DE1-A300-9F870D3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encrypted feature slots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AF650-A6B8-4F17-AA9D-AB164D9A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2428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D0138-3BE2-4E0C-BC68-5CDF8783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2428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8403D-6B1B-4153-B4C3-34DB0D86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99097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B3FD3-7215-4CA4-951E-FFD6DC03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1C668-0C4E-418A-981F-E1D2731E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431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EVENT-COMPILED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58BC2-7FE8-42C9-B1EA-63079C01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7ACCD-0FD9-485B-8D2B-A80BDBBC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146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local sorter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90F1E-A475-4029-8C3A-E38BEBD4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raw payload stays local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896A4-C40A-414D-923B-71982501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8130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816EB-9939-4192-A315-72494FF4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event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5C2DED-155D-47FE-8C16-E84135B0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encrypted compact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840DCA-07E3-433A-87D0-F0B3878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337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91D3C9-78D6-4332-BE8F-44EB21D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77F2A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8D8386-AB9F-4B1B-BE92-789BCFB7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active feature slots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7EE9D9-F57E-4436-8C7C-7EEBDF6E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784ADA-9CA8-405B-AF6B-47696AE2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428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44F12D-CC8B-4D80-8443-0BC54D97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99097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77F2A1"/>
                </a:solidFill>
                <a:latin typeface="Menlo"/>
                <a:ea typeface="Menlo"/>
                <a:cs typeface="Menlo"/>
              </a:rPr>
              <a:t>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81B2AC-1CBF-4EBA-94F6-EBD838C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current synthetic benchmark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32550C-3AD3-4DFB-A51E-C420DAB5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72100"/>
            <a:ext cx="933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The product opportunity is the compiler that turns intimate physical streams into HE-friendly event workloads with explicit leakage choices.</a:t>
            </a:r>
          </a:p>
        </p:txBody>
      </p:sp>
    </p:spTree>
    <p:extLst>
      <p:ext uri="{BB962C8B-B14F-4D97-AF65-F5344CB8AC3E}">
        <p14:creationId xmlns:p14="http://schemas.microsoft.com/office/powerpoint/2010/main" val="7487594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79C9C-8518-4897-9C35-37BA3282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63E44-0DCE-4C5A-AB18-97C87549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E5E8E-1ED0-4988-8226-5EEE249F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050C1-6765-4EEC-9B81-229DF9E8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867A9-1969-41C7-A3BB-9654ACF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05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9B1D96-B98F-4E37-B970-DFF5181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0252C6-0221-4BC7-A19E-2B2E8F02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87B73-EC1A-41CA-B0FD-1C7533C0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The relay compiler is the commercial surface; the CC0 protocol is the trust surface.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38F02-FA3F-4291-9BDA-52C5D601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EA558-0E51-409F-9438-0ED1F03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edge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CFEA9-DC2A-41F8-9954-60BF08B2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robotics, wearable, camera, industrial intake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976D5-E9B6-42C4-82B9-CC7EC825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95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B3B4D-A432-4AE4-BBC8-D2B90BC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solidFill>
              <a:srgbClr val="5AD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021A0-D428-481D-B2F9-52891A31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095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E00C2-1317-40A2-B2AD-B1CBF315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event compiler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91C22-9988-4C58-93B1-E65B8E2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52700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sort, minimize, pad, pack, encrypt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AE210-6B2D-4199-B830-85C69913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8FF6F-DC91-4D32-BCB2-A7B0A174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77F2A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47949-60D8-4841-808F-B2DA5910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B8C0B-173E-44D5-93B1-16668C7B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955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HE 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5DB00-D7E7-434E-BA99-84279214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BFV/BGV first; CKKS comparison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8EDE0-8AA2-436E-97F6-21E4F796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B3A74-EE7D-4E7B-8042-052F7C60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77F2A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8074A2-D385-44E6-A63D-92CFC5B7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83F70-6145-4062-BF6C-D3D19A3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private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4F840-9F54-4C2A-A15D-A9307467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192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client decrypts score or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75A97-675B-42F5-A025-1F06F8A9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4648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C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6F267-ADB1-43BF-A089-31936C67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CC0 BASE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61718F-DD6C-453F-BCC8-8DF9B1E8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4143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Schemas, benchmark contracts, gateway boundary, privacy vocabulary, reproducible reference harness.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E5E86-F454-41BB-ABC3-C9D98236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86250"/>
            <a:ext cx="4648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C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3A3341-3DF1-4FCF-8437-CDCDC85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COMMERCIAL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1B7C09-CB64-479B-8725-779FC3E9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05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Proprietary lowering passes, hardware adapters, parameter reports, tuned models, procurement-grade manifests.</a:t>
            </a:r>
          </a:p>
        </p:txBody>
      </p:sp>
    </p:spTree>
    <p:extLst>
      <p:ext uri="{BB962C8B-B14F-4D97-AF65-F5344CB8AC3E}">
        <p14:creationId xmlns:p14="http://schemas.microsoft.com/office/powerpoint/2010/main" val="4217618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BA183-5CC5-429A-AB6F-12BFC64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77301-9856-4560-8454-843A2759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C3AB0-9E91-4976-8F1E-8CF6D5D6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750D6-E46F-4235-AFF6-38BF08D3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AB273-39A6-43F8-A890-0844BF30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06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D87247-9B00-4323-A1C1-BB3969FB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8AB1A7-A2C7-40A1-9BF4-349E33EF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CURRENT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34BE-DC23-47A3-9D1D-F5EF214B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The prototype has a frozen, measurable contract investors can diligence.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43FE8-44EF-4C22-B071-03D7232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FC97-3601-406B-A431-7FD4276C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7F2A1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77F2A1"/>
                </a:solidFill>
                <a:latin typeface="Avenir Next Condensed"/>
                <a:ea typeface="Avenir Next Condensed"/>
                <a:cs typeface="Avenir Next Condensed"/>
              </a:rPr>
              <a:t>scores = W x + bias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9002F-BB44-42CC-8460-08BB9DAF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fixed score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CBBE8-29E7-4C9E-A50D-F147D914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rows = classes, columns = event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E34A1-F729-419E-8287-D15CA33D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F15B6-F753-493D-AA1A-5C2BF976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D7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5AD7FF"/>
                </a:solidFill>
                <a:latin typeface="Avenir Next Condensed"/>
                <a:ea typeface="Avenir Next Condensed"/>
                <a:cs typeface="Avenir Next Condensed"/>
              </a:rPr>
              <a:t>18 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C404C-5FB4-4CAB-B86A-65794AF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336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sparse event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02EDD-D167-46B8-B9EC-0C16F826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051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8x8 synthetic window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09127-735E-47BD-A695-230EC2BA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DFBB8-C83D-467A-AE6E-A08CCDB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00275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45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100" b="1">
                <a:solidFill>
                  <a:srgbClr val="FFB454"/>
                </a:solidFill>
                <a:latin typeface="Avenir Next Condensed"/>
                <a:ea typeface="Avenir Next Condensed"/>
                <a:cs typeface="Avenir Next Condensed"/>
              </a:rPr>
              <a:t>35/35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1E27E-A03A-44B0-B1A1-B13151EC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tests passing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DDB81-A01A-48CB-9548-7028E55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validated locally on 2026-05-21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218EE-BC49-49DC-B081-D936E3AF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sparse active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C4331-901A-45E3-B323-C5B43BFD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305B5-3E08-45A3-8352-FF4C6DB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120550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21C83-EF93-487A-BA02-1EB8737B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2427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77F2A1"/>
                </a:solidFill>
                <a:latin typeface="Menlo"/>
                <a:ea typeface="Menlo"/>
                <a:cs typeface="Menlo"/>
              </a:rPr>
              <a:t>36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7DB28-2CBA-41B9-8117-20047124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504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public active positions + encrypted feature values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1697CF-1412-4010-875D-AA9B1C3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padded sparse batch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12A2F-968C-41A1-82DF-84FC6E2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38650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0F614-9CD8-4145-925B-B53D16F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38650"/>
            <a:ext cx="2143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63C3A5-A2F1-43D8-AFA7-2802A6D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1007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D7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AD7FF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16A4C-BE3A-4BB7-9632-EABD2193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48200"/>
            <a:ext cx="504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default comparison lane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CF102-0EC3-4E5B-B6C6-4A0438A4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dense encrypted window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59458-D7EA-403F-BC3C-F05059AE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2B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53605B-50A4-4A84-BB97-8A2CDF0B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428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44BD53-6EE4-4B16-BC35-52017A6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95875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128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D65F62-447B-4553-A055-8E71BC6F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504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highest metadata protection among current modes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B7B03-44E0-4AD1-8F48-055D5501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22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D8ECB-B541-4349-920E-762A9BF4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DO NOT OVERCLAIM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2DF25-7BC5-4892-8DBC-48F23C39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Synthetic single-window agreement, not dataset accuracy. Toy arithmetic still separates from the real OpenFHE BFVrns target.</a:t>
            </a:r>
          </a:p>
        </p:txBody>
      </p:sp>
    </p:spTree>
    <p:extLst>
      <p:ext uri="{BB962C8B-B14F-4D97-AF65-F5344CB8AC3E}">
        <p14:creationId xmlns:p14="http://schemas.microsoft.com/office/powerpoint/2010/main" val="1656303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C2D3C9-A68B-4DD4-838A-977B523F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88BFD-5BD7-4B56-AA58-8C5F773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72E27-BBF1-4D66-8DC4-1077B7B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CF892-2F8C-4DE0-8804-210D2C44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396AD-B613-4460-9B4C-8E196E6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07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CC4A00-249E-4A2D-8E30-8753D679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CA79AA-11DC-4747-9D45-E60FFECE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PRIVACY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59704-7428-4057-A395-60A391C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30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Privacy is a mode decision, not a checkbox.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A3A2D-0CA1-4C4F-9F63-F9FA640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EBBFB-07EF-4591-A249-A1FCA823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PUBLIC ACTIVE POSITIONS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20088-FE48-4EAE-B8FE-48C11CE4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B454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700" b="1">
                <a:solidFill>
                  <a:srgbClr val="FFB454"/>
                </a:solidFill>
                <a:latin typeface="Avenir Next Condensed"/>
                <a:ea typeface="Avenir Next Condensed"/>
                <a:cs typeface="Avenir Next Condensed"/>
              </a:rPr>
              <a:t>18 slots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5AC40-BC55-4F86-A6FD-0EFA5F83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fastest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70EC2-906A-4275-86D1-85666D2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leaks exact active positions and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58925-181E-4C48-931F-DC99F652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59782-E333-4FD7-935D-42CB96E3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PADDED SPARSE BATCHES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44DA5-2473-42A5-8FE2-88AAFA17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7F2A1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700" b="1">
                <a:solidFill>
                  <a:srgbClr val="77F2A1"/>
                </a:solidFill>
                <a:latin typeface="Avenir Next Condensed"/>
                <a:ea typeface="Avenir Next Condensed"/>
                <a:cs typeface="Avenir Next Condensed"/>
              </a:rPr>
              <a:t>32 slots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D4B3A-F0C0-4399-A3E5-1F8CBA6E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default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09406-C0E7-43D6-88CF-1315C274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hides exact active count inside a bucket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B66AC-005A-43E7-BF61-1F9A337F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3000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54748-C47C-479E-AC56-BD35A162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DENSE ENCRYPTED WINDOWS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EA98A-F95F-4447-944A-CEDB82C1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AD7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2700" b="1">
                <a:solidFill>
                  <a:srgbClr val="5AD7FF"/>
                </a:solidFill>
                <a:latin typeface="Avenir Next Condensed"/>
                <a:ea typeface="Avenir Next Condensed"/>
                <a:cs typeface="Avenir Next Condensed"/>
              </a:rPr>
              <a:t>64 slots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8C2F4-27F9-4548-B472-1B77B52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highest protection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2B830-A2E7-4385-994B-9A0F1414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481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hides active positions at higher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7CB96-614F-4278-8BED-20E9A3E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Commercial implication: buyer policy, latency target, and threat model become compiler inputs.</a:t>
            </a:r>
          </a:p>
        </p:txBody>
      </p:sp>
    </p:spTree>
    <p:extLst>
      <p:ext uri="{BB962C8B-B14F-4D97-AF65-F5344CB8AC3E}">
        <p14:creationId xmlns:p14="http://schemas.microsoft.com/office/powerpoint/2010/main" val="4631531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6A56A-2522-46FC-A4C0-4901A56E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7A8D3-47F2-4646-841F-4E14A710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7AD9-017A-4483-BE91-03039DD7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4BAC0-7A85-4E08-96D2-CD7921E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28D8D-4B32-477D-87D2-423715F1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08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C7E3BE-A2F7-4519-AABB-4F53182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0ED1F2-442B-43AD-B287-7DC2B18E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REAL-LIBRARY 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BA4C3-BE89-4EB2-A33E-0F02C260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BFV/BGV is the first serious lane for integer event scoring.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1360D-3FE3-42D0-A8FF-1C10D380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45243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22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8486-64BF-4B8F-9392-5D88243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DEFAULT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18CE9-EE7D-4789-BA2D-53A75F2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BFV / BGV packed integer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BCA39-C10D-4291-B1DA-BA85EE3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Best fit for non-negative spike counts, public non-negative weights, and the current score contract.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D759B-809A-4F5B-A15A-D831545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First measurement: compare public sparse, padded sparse, and dense windows under one parameter family.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18194-B07C-4310-A673-1FB8FE2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5243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0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2317E-5C3B-46AA-BE32-43BD737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COMPARISON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F81FD-4BD6-414A-8818-621DAD0B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CKKS packed approximate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D2720-0BD0-45AC-96FC-E579AED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3733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Useful when features become approximate real or fixed-point, but it changes the integer score contract.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2529F-E8F3-4BEA-B920-603CB30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Must report score drift, classification agreement, latency, and ciphertext bytes.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626E4-BCBD-4AC2-9019-D07195BC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9820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C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E1F0B-ACF2-46B6-864F-B6BD5BA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Current OpenFHE BFVrns target is present as a native integration path, but this machine does not have OpenFHE installed for native execution.</a:t>
            </a:r>
          </a:p>
        </p:txBody>
      </p:sp>
    </p:spTree>
    <p:extLst>
      <p:ext uri="{BB962C8B-B14F-4D97-AF65-F5344CB8AC3E}">
        <p14:creationId xmlns:p14="http://schemas.microsoft.com/office/powerpoint/2010/main" val="14755482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08DD6-3889-497B-9D3E-CA87B63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E5EA1-4F27-489C-8C7B-3D010F97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CF819-9B4D-470C-A1EB-2A3D8CD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4BEAD-55A9-4F13-A013-3E6B76AD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235FD-9ED9-45C2-B427-427B177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09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42B19D-6425-4648-8586-93BFB523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7DCF96-75FE-4DA5-AE17-EB84512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WEDGE MARKETS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A2EAD-82C1-452D-98E5-671F8A7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Start where raw data is toxic and event structure is natural.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30425-CD32-4113-9DDF-4C91220A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98583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ED589-6257-43BB-849F-57E0305A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DOMAIN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1A67B-099E-4EDB-8D99-0C6FEF8E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62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NATURAL SPARSITY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949CC-FEF7-4FE5-B786-6651D989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62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PRIVACY PAIN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C5E76-3DE5-4406-9F22-98BE1F2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FIRST COMMERCIAL WEDGE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D9F6E-DB60-4B74-B6AB-BE03A3B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890A0-8330-4FD9-9122-CC711A71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Robotics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EB1AC-BB7B-413E-A44C-53B1136A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62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eventful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8A4A0-ED6C-461F-920B-408054FA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0CC85-7BF6-4404-B292-9870C591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private fleet telemetry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82999-64B6-4168-BD6B-D10CEFB6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8B7C3-5BF1-4459-ACDE-2D2E27E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Wearable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90732-D1D8-47D2-B929-5A036971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0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eventful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74430-8C59-4636-B30F-02E2AD23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00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very 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B34CE-5C93-4494-90C4-EC04C41B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intimate edge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831ED-B292-42CF-90C4-FBD174DD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9ADF9-7569-4366-8FB5-B8F4E7F6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Edge cameras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7F9FE-399A-48BF-BD90-EF4B0A6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38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eventful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D1245-EFF1-42FE-A061-1B383BE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A7088-96C4-4E0B-8FC3-47C869F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privacy-preserving 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960D4-E88F-47E8-9986-1111CAA1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70240-7FF7-4756-84F9-3D8EC705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Industrial telemetry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50189-C01C-4DD1-AC1B-588DE765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76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bursty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CD2E48-0E6F-43B5-AE48-22846AC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767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medium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67906-1465-41BE-98C7-F1622D2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anomaly without raw process logs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A3298-0DA7-4DDD-A098-E9B0AEF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5C07ED-992A-478A-8CCE-57D4F8E5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Smart buildings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80DD38-BAD7-4E15-AFA5-0B9CDEAB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bursty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7685AB-D9EF-41CF-9388-6FC0B3EE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14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high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5984B-6B74-448E-A352-827D09D7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148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occupancy without identity stream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2092F-0A8A-4C6D-A08F-C8E7A10A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76875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The fundable wedge is infrastructure for privacy-preserving event intelligence, not a horizontal AI app.</a:t>
            </a:r>
          </a:p>
        </p:txBody>
      </p:sp>
    </p:spTree>
    <p:extLst>
      <p:ext uri="{BB962C8B-B14F-4D97-AF65-F5344CB8AC3E}">
        <p14:creationId xmlns:p14="http://schemas.microsoft.com/office/powerpoint/2010/main" val="8176726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7FFE9-81A6-4ACF-8963-38988AD0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676B9-1B23-44F8-9D9A-8678510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7E7F3-1477-4C6D-8B39-FDB03C76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FA8AF-D995-4A03-A502-42AE60C2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02152-93A7-4333-B905-CC209D8A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10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39ADBD-5530-4813-B159-60872E23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140C0C-CEB8-43BF-8BE1-1D0CFA32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BUSINESS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19459-7287-4647-A1C0-B175878A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Open protocol below; proprietary performance and deployment layer above.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DD4DB-7648-48AC-9768-5F10BBD4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8EA1A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A967-CE6D-487C-ABB7-B9689988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386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CC0 REFERENCE 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54E9E-506D-45F6-923C-3929C83E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schemas + benchmark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7505E-9E88-4920-BE60-793074C6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6237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381DA-A3AE-4594-898D-1D407023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338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DEVELOPER TOOLING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C804B-FBBF-4D6D-A188-64954FF8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957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manifests + policy simulator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94851-5430-47C5-9322-E25E61A2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57575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B7085-AF9B-4A4C-9E97-9C185E5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290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COMPILER 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E0A97-34F5-4404-B871-EC2C0101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14775"/>
            <a:ext cx="1295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packing, padding, scheme 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5980F-5792-477F-8F0A-0CAC1343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1524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1C0D7-88BA-4725-8DFE-B8BBF5FF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242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ADAPTER 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8C85A-CC68-459A-BEB1-A31703DC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9975"/>
            <a:ext cx="1295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native HE back ends +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75D76-F772-41A3-9F69-DCED44F1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47975"/>
            <a:ext cx="1524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1E611-5EED-4CCD-912E-81013584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194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VERTICAL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45615-8741-49D2-92A5-99354664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05175"/>
            <a:ext cx="1295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vertical encrypted models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0E863-4E08-49AF-B1F4-7E60417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1C"/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65A22-E693-4B6B-A1AE-A0DDE857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Moat hypothesis: the compounding asset is not one primitive; it is benchmarked workload lowering across sensors, schemes, hardware, and threat models.</a:t>
            </a:r>
          </a:p>
        </p:txBody>
      </p:sp>
    </p:spTree>
    <p:extLst>
      <p:ext uri="{BB962C8B-B14F-4D97-AF65-F5344CB8AC3E}">
        <p14:creationId xmlns:p14="http://schemas.microsoft.com/office/powerpoint/2010/main" val="19148290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A9D66-5575-4696-8314-74CF649C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27DF5-00EA-4E40-9809-0BDCAEE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0F08B-6DE6-4998-A4FD-3AEF94BF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36092-9F7F-45A0-B39E-B7401E73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F36A8-F441-4F50-AFC1-E39725E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11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BE92BA-8DE7-4EB9-AC3D-B8D86C7E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C38947-E640-49D2-AB04-EEBE8F2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E9450-22C3-44AB-86C1-235BDA81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00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1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De-risk the science before scaling the company 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05C05-1239-4EEB-AEDF-CD8F320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67852-1904-40E1-924D-68DD69BE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0-3 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F200D-1538-44B2-A789-EF77194C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native BFV/BGV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78576-F2F6-4165-AB00-1CBE626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OpenFHE benchmark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3907E-4AF6-4387-A0E5-168893F4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28C04-5543-4CC8-8C48-A066515D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3ED42-75A3-4CE5-8BE5-C30C39C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A1725-65F7-4E4C-B2A8-C326A1A8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3-6 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9CF8A-5833-44B7-B98A-4FE7CF1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compiler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06962-B32C-4B77-B4B0-00678BA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padded sparse + dense modes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74844-726B-460F-B891-BFC4ADAD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43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1FED1-7F51-4D69-8E33-39E73B9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EFC55-566A-4773-9C6B-EB9DB30D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9382B-9EB5-4C3B-A9D7-76833B6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6-12 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28199-5C80-4F2F-9B60-0DFF81AA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edge adapters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4B126-B46D-4F9E-891E-290A8C57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67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wearable / camera / robotics pilots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BC5DB-8791-4D70-A683-A0143AD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13299-BD82-4C8F-9539-23367189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FCDEC-3807-4087-8C65-D34B8B2A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62200"/>
            <a:ext cx="2095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8EF6BD-88B5-47D3-9713-67180E5C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12-18 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3A6AFD-A39A-4729-8738-ACD56A0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vertical models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93A37F-20E2-435D-A1EB-9EF6E63A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67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paid design partners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B162A5-1E04-4BCC-90CD-DDFDC41F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601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22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FD1FA6-D089-4847-9BCD-6200F25F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GO / NO-GO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838DE-69D3-44B3-9547-CE519FD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Proceed only if sparse or padded event workloads materially reduce encrypted cost while preserving useful task agreement and a legible privacy boundary.</a:t>
            </a:r>
          </a:p>
        </p:txBody>
      </p:sp>
    </p:spTree>
    <p:extLst>
      <p:ext uri="{BB962C8B-B14F-4D97-AF65-F5344CB8AC3E}">
        <p14:creationId xmlns:p14="http://schemas.microsoft.com/office/powerpoint/2010/main" val="16558126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C35F71-388D-4AB4-8801-C2C6BAB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3AB3D-F5CD-467A-9CC9-6B53C736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8505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B1F7A-E8D5-4354-8F47-57E39B58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7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BF635-9C99-4083-B9D9-B80AC538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150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8EA1A8"/>
                </a:solidFill>
                <a:latin typeface="Avenir Next"/>
                <a:ea typeface="Avenir Next"/>
                <a:cs typeface="Avenir Next"/>
              </a:rPr>
              <a:t>Sources: repo README, VALIDATION.md, project-brief.json, ENER investor brief. Prototype evidence is synthetic unless noted.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51BB5-D2FC-4EE5-95F8-6086B1AF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1507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EA1A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8EA1A8"/>
                </a:solidFill>
                <a:latin typeface="Menlo"/>
                <a:ea typeface="Menlo"/>
                <a:cs typeface="Menlo"/>
              </a:rPr>
              <a:t>12 / 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963979-5137-44F3-8FD9-70D1BABB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2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BAF437-60AB-4E38-B93F-6A2C4BF8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22846-CEC0-4517-A335-DAF5974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239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450" b="1">
                <a:solidFill>
                  <a:srgbClr val="F4F1E8"/>
                </a:solidFill>
                <a:latin typeface="Avenir Next Condensed"/>
                <a:ea typeface="Avenir Next Condensed"/>
                <a:cs typeface="Avenir Next Condensed"/>
              </a:rPr>
              <a:t>Fund one validated encrypted event pipeline, not another generic AI platform.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909A8-B256-4FBB-B4BF-DCC6FCB1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Pre-seed/seed capital should convert the CC0 protocol package into commercial compiler IP, native adapters, and the first buyer-specific privacy manifests.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7D76E-D7FD-493C-9365-744CA4C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C3D35-47DC-491F-A37E-56F3F202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compiler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368C5-1CC9-49E6-BE5B-BA53EB17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019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event lowering, packing, padding, scheme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47FF1-6F51-4D12-917F-B60D889B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B9018-C4FF-491A-B823-003571BC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57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7F2A1"/>
                </a:solidFill>
                <a:latin typeface="Avenir Next"/>
                <a:ea typeface="Avenir Next"/>
                <a:cs typeface="Avenir Next"/>
              </a:rPr>
              <a:t>native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F206B-8A9A-4216-B508-91A514F3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2019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OpenFHE BFV/BGV run, memory and latency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780E0-2626-4573-8E13-6B02A00A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AAE8E8-43CB-4502-A414-5D3EE4D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57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adapters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BF198-8434-4B79-BA18-942330F1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019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edge camera, wearable, robotics intake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5BA10-2844-464A-89BE-460A4EE8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1F"/>
          </a:solidFill>
          <a:ln xmlns:a="http://schemas.openxmlformats.org/drawingml/2006/main" w="9525">
            <a:solidFill>
              <a:srgbClr val="5AD7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31BC9-40F1-43A9-9C08-924C3C83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AD7FF"/>
                </a:solidFill>
                <a:latin typeface="Avenir Next"/>
                <a:ea typeface="Avenir Next"/>
                <a:cs typeface="Avenir Next"/>
              </a:rPr>
              <a:t>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92B41-C6BB-4E46-B94D-BD8A249A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2019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E8E1D0"/>
                </a:solidFill>
                <a:latin typeface="Avenir Next"/>
                <a:ea typeface="Avenir Next"/>
                <a:cs typeface="Avenir Next"/>
              </a:rPr>
              <a:t>bounded encrypted inference 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138F9-BEE3-490A-AB35-9CF0295D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D"/>
          </a:solidFill>
          <a:ln xmlns:a="http://schemas.openxmlformats.org/drawingml/2006/main" w="9525">
            <a:solidFill>
              <a:srgbClr val="77F2A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EDD7C-F556-4578-94F9-CA0C3EB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48275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1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1E8"/>
                </a:solidFill>
                <a:latin typeface="Avenir Next"/>
                <a:ea typeface="Avenir Next"/>
                <a:cs typeface="Avenir Next"/>
              </a:rPr>
              <a:t>Investor fit: Deep Tech, PETs, sovereign infrastructure, Edge AI. The pitch is privacy-preserving event intelligence with a measurable workload compiler wedge.</a:t>
            </a:r>
          </a:p>
        </p:txBody>
      </p:sp>
    </p:spTree>
    <p:extLst>
      <p:ext uri="{BB962C8B-B14F-4D97-AF65-F5344CB8AC3E}">
        <p14:creationId xmlns:p14="http://schemas.microsoft.com/office/powerpoint/2010/main" val="1911910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2026-05-21T18:27:54.2700000Z</dcterms:created>
  <dcterms:modified xsi:type="dcterms:W3CDTF">2026-05-21T18:27:54.2700000Z</dcterms:modified>
</coreProperties>
</file>